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abin"/>
      <p:regular r:id="rId201314"/>
    </p:embeddedFont>
    <p:embeddedFont>
      <p:font typeface="Cabin Medium"/>
      <p:regular r:id="rId201315"/>
    </p:embeddedFont>
    <p:embeddedFont>
      <p:font typeface="Cabin SemiBold"/>
      <p:regular r:id="rId201316"/>
    </p:embeddedFont>
    <p:embeddedFont>
      <p:font typeface="Cabin Bold"/>
      <p:regular r:id="rId201317"/>
    </p:embeddedFont>
    <p:embeddedFont>
      <p:font typeface="Unbounded ExtraLight"/>
      <p:regular r:id="rId201318"/>
    </p:embeddedFont>
    <p:embeddedFont>
      <p:font typeface="Unbounded Light"/>
      <p:regular r:id="rId201319"/>
    </p:embeddedFont>
    <p:embeddedFont>
      <p:font typeface="Unbounded"/>
      <p:regular r:id="rId201320"/>
    </p:embeddedFont>
    <p:embeddedFont>
      <p:font typeface="Unbounded Bold"/>
      <p:regular r:id="rId201321"/>
    </p:embeddedFont>
    <p:embeddedFont>
      <p:font typeface="Unbounded ExtraBold"/>
      <p:regular r:id="rId201322"/>
    </p:embeddedFont>
    <p:embeddedFont>
      <p:font typeface="Unbounded Black"/>
      <p:regular r:id="rId201323"/>
    </p:embeddedFont>
    <p:embeddedFont>
      <p:font typeface="Unbounded Medium"/>
      <p:regular r:id="rId201324"/>
    </p:embeddedFont>
    <p:embeddedFont>
      <p:font typeface="Unbounded Semi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image" Target="../media/image-9-1.png"/><Relationship Id="rId12" Type="http://schemas.openxmlformats.org/officeDocument/2006/relationships/image" Target="../media/image-9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9.png"/><Relationship Id="rId12" Type="http://schemas.openxmlformats.org/officeDocument/2006/relationships/image" Target="../media/image-10-10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2577" y="1286173"/>
            <a:ext cx="640482" cy="281136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sp>
        <p:nvSpPr>
          <p:cNvPr id="4" name="Text 1"/>
          <p:cNvSpPr/>
          <p:nvPr/>
        </p:nvSpPr>
        <p:spPr>
          <a:xfrm>
            <a:off x="4042321" y="1331044"/>
            <a:ext cx="91819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667845" y="1286173"/>
            <a:ext cx="401464" cy="281136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0a988b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7589" y="1331044"/>
            <a:ext cx="679177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144095" y="1286173"/>
            <a:ext cx="719658" cy="281136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0a988b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33839" y="1331044"/>
            <a:ext cx="99737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952577" y="1627138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Shopping Behaviour Analysis</a:t>
            </a:r>
            <a:endParaRPr lang="en-US" sz="2750" dirty="0"/>
          </a:p>
        </p:txBody>
      </p:sp>
      <p:sp>
        <p:nvSpPr>
          <p:cNvPr id="10" name="Text 7"/>
          <p:cNvSpPr/>
          <p:nvPr/>
        </p:nvSpPr>
        <p:spPr>
          <a:xfrm>
            <a:off x="3952577" y="2731517"/>
            <a:ext cx="4667845" cy="1125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end-to-end data analytics project examining how demographics, product categories, discounts, and sales channels shape shopping behavior across 3,900 customer transactions.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Prepared by: Aditya ·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6570"/>
            <a:ext cx="1257970" cy="252413"/>
          </a:xfrm>
          <a:prstGeom prst="roundRect">
            <a:avLst>
              <a:gd name="adj" fmla="val 6557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06326" y="457944"/>
            <a:ext cx="154967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23577" y="719807"/>
            <a:ext cx="8096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Big Picture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3577" y="1385069"/>
            <a:ext cx="396894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$233K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523577" y="2004417"/>
            <a:ext cx="3968948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Revenue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3577" y="2283544"/>
            <a:ext cx="396894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Across 3,900 transactions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51400" y="1385069"/>
            <a:ext cx="3969023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$59.76</a:t>
            </a:r>
            <a:endParaRPr lang="en-US" sz="3550" dirty="0"/>
          </a:p>
        </p:txBody>
      </p:sp>
      <p:sp>
        <p:nvSpPr>
          <p:cNvPr id="9" name="Text 7"/>
          <p:cNvSpPr/>
          <p:nvPr/>
        </p:nvSpPr>
        <p:spPr>
          <a:xfrm>
            <a:off x="4651400" y="2004417"/>
            <a:ext cx="396902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Avg. Basket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51400" y="2283544"/>
            <a:ext cx="396902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 customer transaction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577" y="2818656"/>
            <a:ext cx="3968948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3.75</a:t>
            </a:r>
            <a:endParaRPr lang="en-US" sz="3550" dirty="0"/>
          </a:p>
        </p:txBody>
      </p:sp>
      <p:sp>
        <p:nvSpPr>
          <p:cNvPr id="12" name="Text 10"/>
          <p:cNvSpPr/>
          <p:nvPr/>
        </p:nvSpPr>
        <p:spPr>
          <a:xfrm>
            <a:off x="523577" y="3438004"/>
            <a:ext cx="3968948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Avg. Satisfaction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3577" y="3717131"/>
            <a:ext cx="396894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 of 5.0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51400" y="2818656"/>
            <a:ext cx="3969023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76%</a:t>
            </a:r>
            <a:endParaRPr lang="en-US" sz="3550" dirty="0"/>
          </a:p>
        </p:txBody>
      </p:sp>
      <p:sp>
        <p:nvSpPr>
          <p:cNvPr id="15" name="Text 13"/>
          <p:cNvSpPr/>
          <p:nvPr/>
        </p:nvSpPr>
        <p:spPr>
          <a:xfrm>
            <a:off x="4651400" y="3438004"/>
            <a:ext cx="396902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Clothing + Accessories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51400" y="3717131"/>
            <a:ext cx="396902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 total revenue share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3577" y="4106540"/>
            <a:ext cx="8096845" cy="19050"/>
          </a:xfrm>
          <a:prstGeom prst="roundRect">
            <a:avLst>
              <a:gd name="adj" fmla="val 60000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3577" y="4303068"/>
            <a:ext cx="809684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Per-customer spending and satisfaction are remarkably consistent across age, gender, subscription status, and payment method — revenue differences are driven by segment size, not by how much any individual customer spends.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416347"/>
            <a:ext cx="611014" cy="182687"/>
          </a:xfrm>
          <a:prstGeom prst="roundRect">
            <a:avLst>
              <a:gd name="adj" fmla="val 7064"/>
            </a:avLst>
          </a:prstGeom>
          <a:solidFill>
            <a:srgbClr val="054842"/>
          </a:solidFill>
          <a:ln/>
        </p:spPr>
      </p:sp>
      <p:sp>
        <p:nvSpPr>
          <p:cNvPr id="4" name="Text 1"/>
          <p:cNvSpPr/>
          <p:nvPr/>
        </p:nvSpPr>
        <p:spPr>
          <a:xfrm>
            <a:off x="588094" y="448568"/>
            <a:ext cx="939180" cy="11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1–2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523577" y="629915"/>
            <a:ext cx="4667845" cy="63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Problem &amp; Data Preparation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23577" y="1378297"/>
            <a:ext cx="4667845" cy="295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Management wanted to know which factors — discounts, reviews, seasonality, or payment preferences — actually drive consumer decisions and repeat purchases.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23577" y="1760786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23577" y="1929259"/>
            <a:ext cx="4667845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9" name="Text 6"/>
          <p:cNvSpPr/>
          <p:nvPr/>
        </p:nvSpPr>
        <p:spPr>
          <a:xfrm>
            <a:off x="523577" y="2011561"/>
            <a:ext cx="4667845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Preparation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3577" y="2216051"/>
            <a:ext cx="466784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Clean &amp; transform raw data in Python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23577" y="2521669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23577" y="2690143"/>
            <a:ext cx="4667845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3" name="Text 10"/>
          <p:cNvSpPr/>
          <p:nvPr/>
        </p:nvSpPr>
        <p:spPr>
          <a:xfrm>
            <a:off x="523577" y="2772445"/>
            <a:ext cx="4667845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Analysis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23577" y="2976935"/>
            <a:ext cx="466784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Structure &amp; query in SQL for insights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577" y="3282553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23577" y="3451027"/>
            <a:ext cx="4667845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7" name="Text 14"/>
          <p:cNvSpPr/>
          <p:nvPr/>
        </p:nvSpPr>
        <p:spPr>
          <a:xfrm>
            <a:off x="523577" y="3533329"/>
            <a:ext cx="4667845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23577" y="3737818"/>
            <a:ext cx="466784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Build interactive Power BI dashboard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3577" y="4043437"/>
            <a:ext cx="21505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3577" y="4211910"/>
            <a:ext cx="4667845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1" name="Text 18"/>
          <p:cNvSpPr/>
          <p:nvPr/>
        </p:nvSpPr>
        <p:spPr>
          <a:xfrm>
            <a:off x="523577" y="4294212"/>
            <a:ext cx="4667845" cy="15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Report &amp; Repository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23577" y="4498702"/>
            <a:ext cx="466784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Summarize findings &amp; house all files on GitHub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5322"/>
            <a:ext cx="642789" cy="230014"/>
          </a:xfrm>
          <a:prstGeom prst="roundRect">
            <a:avLst>
              <a:gd name="adj" fmla="val 6708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00670" y="473869"/>
            <a:ext cx="945803" cy="1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709464"/>
            <a:ext cx="809684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Cleaning &amp; Feature Engineering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523577" y="1363712"/>
            <a:ext cx="431214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Cleaning Steps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3577" y="1663229"/>
            <a:ext cx="4312146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Missing values:</a:t>
            </a:r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37 Review Ratings imputed with category-level median — resistant to outliers</a:t>
            </a:r>
            <a:endParaRPr lang="en-US" sz="1000" dirty="0"/>
          </a:p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Column names:</a:t>
            </a:r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Standardized to lower_snake_case for reliable SQL access</a:t>
            </a:r>
            <a:endParaRPr lang="en-US" sz="1000" dirty="0"/>
          </a:p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Redundant column:</a:t>
            </a:r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Dropped promo_code_used — identical to discount_applied in every row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3577" y="2853035"/>
            <a:ext cx="4312146" cy="14288"/>
          </a:xfrm>
          <a:prstGeom prst="roundRect">
            <a:avLst>
              <a:gd name="adj" fmla="val 59998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23577" y="3023667"/>
            <a:ext cx="431214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New Features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577" y="3323183"/>
            <a:ext cx="4312146" cy="8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age_group:</a:t>
            </a:r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Binned into Young Adult (≤25), Adult (26–40), Middle-Aged (41–60), Senior (61+)</a:t>
            </a:r>
            <a:endParaRPr lang="en-US" sz="1000" dirty="0"/>
          </a:p>
          <a:p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purchase_frequency_days:</a:t>
            </a:r>
            <a:pPr algn="l" marL="203200" indent="-203200">
              <a:lnSpc>
                <a:spcPct val="1240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Mapped text frequency to numeric day interval for loyalty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3577" y="4226198"/>
            <a:ext cx="4312146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dataset: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3,900 rows × 19 columns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loaded into a SQL database for structured querying.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4067" y="1997199"/>
            <a:ext cx="3471044" cy="19669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65981"/>
            <a:ext cx="812602" cy="281136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510853"/>
            <a:ext cx="109031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3.1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0694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Segments by Age Group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23577" y="1639565"/>
            <a:ext cx="4712122" cy="2869704"/>
          </a:xfrm>
          <a:prstGeom prst="roundRect">
            <a:avLst>
              <a:gd name="adj" fmla="val 78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8340" y="1644328"/>
            <a:ext cx="4702597" cy="6677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77912" y="1738833"/>
            <a:ext cx="63899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Age Group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620813" y="1738833"/>
            <a:ext cx="6366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1332" y="1738833"/>
            <a:ext cx="6366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Avg. Purchase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01851" y="1738833"/>
            <a:ext cx="63661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Avg. Rating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42371" y="1738833"/>
            <a:ext cx="63899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Avg. Prior Purchases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340" y="2312119"/>
            <a:ext cx="4702597" cy="66779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7912" y="2406625"/>
            <a:ext cx="63899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Young Adult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20813" y="2406625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571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1332" y="2406625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$60.65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01851" y="2406625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3.82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42371" y="2406625"/>
            <a:ext cx="109619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24.6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8340" y="2979911"/>
            <a:ext cx="4702597" cy="4284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77912" y="3074417"/>
            <a:ext cx="109619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Senior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620813" y="3074417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723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61332" y="3074417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$59.70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01851" y="3074417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3.76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42371" y="3074417"/>
            <a:ext cx="109619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26.1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8340" y="3408313"/>
            <a:ext cx="4702597" cy="4284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77912" y="3502819"/>
            <a:ext cx="109619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Adult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20813" y="3502819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1,103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61332" y="3502819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$59.69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01851" y="3502819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3.75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42371" y="3502819"/>
            <a:ext cx="109619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25.0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8340" y="3836715"/>
            <a:ext cx="4702597" cy="66779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77912" y="3931221"/>
            <a:ext cx="63899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Middle-Aged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620813" y="3931221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1,503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561332" y="3931221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$59.51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01851" y="3931221"/>
            <a:ext cx="109381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3.72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42371" y="3931221"/>
            <a:ext cx="109619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25.5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05388" y="1605930"/>
            <a:ext cx="3019723" cy="157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Basket size and satisfaction are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remarkably flat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across age cohorts — within a $1.14 band.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Middle-Aged is the largest cohort by headcount (1,503), while Young Adults post the highest average purchase and rating despite being the smallest group.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05388" y="3345135"/>
            <a:ext cx="3019723" cy="1062112"/>
          </a:xfrm>
          <a:prstGeom prst="roundRect">
            <a:avLst>
              <a:gd name="adj" fmla="val 2113"/>
            </a:avLst>
          </a:prstGeom>
          <a:solidFill>
            <a:srgbClr val="08786D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4960" y="3572619"/>
            <a:ext cx="187003" cy="14957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6091535" y="3517106"/>
            <a:ext cx="2384003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Revenue differences are driven by segment size, not by per-customer spend.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29071"/>
            <a:ext cx="840060" cy="281136"/>
          </a:xfrm>
          <a:prstGeom prst="roundRect">
            <a:avLst>
              <a:gd name="adj" fmla="val 6386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473943"/>
            <a:ext cx="111777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3.3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77003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by Category &amp; Season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02656"/>
            <a:ext cx="4289003" cy="29435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82270" y="1602656"/>
            <a:ext cx="1646634" cy="1367433"/>
          </a:xfrm>
          <a:prstGeom prst="roundRect">
            <a:avLst>
              <a:gd name="adj" fmla="val 1641"/>
            </a:avLst>
          </a:pr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5331842" y="1752228"/>
            <a:ext cx="1347490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Clothing + Accessories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31842" y="2341736"/>
            <a:ext cx="134749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76.5% of total revenue combined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78476" y="1602656"/>
            <a:ext cx="1646634" cy="1367433"/>
          </a:xfrm>
          <a:prstGeom prst="roundRect">
            <a:avLst>
              <a:gd name="adj" fmla="val 1641"/>
            </a:avLst>
          </a:prstGeom>
          <a:solidFill>
            <a:srgbClr val="304755"/>
          </a:solidFill>
          <a:ln/>
        </p:spPr>
      </p:sp>
      <p:sp>
        <p:nvSpPr>
          <p:cNvPr id="10" name="Text 7"/>
          <p:cNvSpPr/>
          <p:nvPr/>
        </p:nvSpPr>
        <p:spPr>
          <a:xfrm>
            <a:off x="7128049" y="1752228"/>
            <a:ext cx="134749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Fall Season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28049" y="2121768"/>
            <a:ext cx="134749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Strongest quarter at $60,018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182270" y="3119661"/>
            <a:ext cx="3442841" cy="908075"/>
          </a:xfrm>
          <a:prstGeom prst="roundRect">
            <a:avLst>
              <a:gd name="adj" fmla="val 2471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5331842" y="3269233"/>
            <a:ext cx="314369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Summer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31842" y="3638773"/>
            <a:ext cx="314369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Weakest at $55,777 — only ~7% gap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5471"/>
            <a:ext cx="895276" cy="208508"/>
          </a:xfrm>
          <a:prstGeom prst="roundRect">
            <a:avLst>
              <a:gd name="adj" fmla="val 6861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595089" y="471190"/>
            <a:ext cx="120945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3.2 &amp; 3.4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681930"/>
            <a:ext cx="809684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Loyalty Signals &amp; High-Frequency Segment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0212" y="1949946"/>
            <a:ext cx="1466404" cy="2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39.7%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329" y="1204838"/>
            <a:ext cx="1788319" cy="17883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3577" y="3117875"/>
            <a:ext cx="261982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 Core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23577" y="3350196"/>
            <a:ext cx="26198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1,549 customers with 30+ prior purchases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38724" y="1949946"/>
            <a:ext cx="1466404" cy="2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27%</a:t>
            </a:r>
            <a:endParaRPr lang="en-US" sz="2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841" y="1204838"/>
            <a:ext cx="1788319" cy="1788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62089" y="3117875"/>
            <a:ext cx="261982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Subscribed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262089" y="3350196"/>
            <a:ext cx="26198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1,053 customers actively subscribed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577236" y="1949946"/>
            <a:ext cx="1466404" cy="29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43%</a:t>
            </a:r>
            <a:endParaRPr lang="en-US" sz="2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353" y="1204838"/>
            <a:ext cx="1788319" cy="17883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00601" y="3117875"/>
            <a:ext cx="261982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Discount Users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000601" y="3350196"/>
            <a:ext cx="2619821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1,677 transactions used a discount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23577" y="3628355"/>
            <a:ext cx="8096845" cy="4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Subscribers and discount users show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modestly deeper purchase history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(+1.0 and +0.68 prior purchases respectively), but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not larger baskets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Discount users actually spend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$0.85 less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per transaction on average.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23577" y="4214440"/>
            <a:ext cx="8096845" cy="14288"/>
          </a:xfrm>
          <a:prstGeom prst="roundRect">
            <a:avLst>
              <a:gd name="adj" fmla="val 59998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523577" y="4365352"/>
            <a:ext cx="8096845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1,549 customers with 30+ purchases represent the company's </a:t>
            </a:r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largest single lever for retention</a:t>
            </a:r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but their basket size ($60.03) is right at the company average.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4653"/>
            <a:ext cx="800323" cy="263649"/>
          </a:xfrm>
          <a:prstGeom prst="roundRect">
            <a:avLst>
              <a:gd name="adj" fmla="val 6490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09079" y="477366"/>
            <a:ext cx="1086520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3.3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23577" y="752624"/>
            <a:ext cx="80968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Fulfillment &amp; Payment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3577" y="1528688"/>
            <a:ext cx="4296742" cy="3027313"/>
          </a:xfrm>
          <a:prstGeom prst="roundRect">
            <a:avLst>
              <a:gd name="adj" fmla="val 70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3577" y="2153766"/>
            <a:ext cx="4296742" cy="891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553742"/>
            <a:ext cx="4296742" cy="891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2953717"/>
            <a:ext cx="4296742" cy="891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3353693"/>
            <a:ext cx="4296742" cy="891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" y="3753669"/>
            <a:ext cx="4296742" cy="891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3577" y="4153644"/>
            <a:ext cx="4296742" cy="891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71438" y="1619696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Shipping 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0188" y="1619696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Avg. Rating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8938" y="1619696"/>
            <a:ext cx="114359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Avg. Prior Purchases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1438" y="2242393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0188" y="2242393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3.82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8938" y="2242393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26.23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1438" y="2642369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Express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0188" y="2642369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3.77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8938" y="2642369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25.50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1438" y="3042345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2-Day Shipping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0188" y="3042345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3.77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8938" y="3042345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26.11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1438" y="3442320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Next Day Air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0188" y="3442320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3.72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8938" y="3442320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24.77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1438" y="3842296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Free Shipping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0188" y="3842296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3.72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8938" y="3842296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24.74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438" y="4242271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Store Pickup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0188" y="4242271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3.71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28938" y="4242271"/>
            <a:ext cx="1600795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24.80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72894" y="1498104"/>
            <a:ext cx="3452217" cy="6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Standard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2-Day Shipping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post the highest satisfaction and repeat-purchase depth.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Store Pickup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is the weakest fulfillment path.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72894" y="2354759"/>
            <a:ext cx="3452217" cy="19050"/>
          </a:xfrm>
          <a:prstGeom prst="roundRect">
            <a:avLst>
              <a:gd name="adj" fmla="val 60000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172894" y="2562299"/>
            <a:ext cx="3452217" cy="145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 six payment methods sit within a narrow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612–677 transaction band</a:t>
            </a:r>
            <a:pPr algn="l" indent="0" marL="0">
              <a:lnSpc>
                <a:spcPct val="130000"/>
              </a:lnSpc>
              <a:spcAft>
                <a:spcPts val="950"/>
              </a:spcAft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no single point of checkout dependency.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Top 5 revenue states (Montana, Illinois, California, Idaho, Nevada) are within a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$200–300 band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geography is dispersed.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6438"/>
            <a:ext cx="574477" cy="197941"/>
          </a:xfrm>
          <a:prstGeom prst="roundRect">
            <a:avLst>
              <a:gd name="adj" fmla="val 6944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592262" y="470743"/>
            <a:ext cx="894308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3577" y="669429"/>
            <a:ext cx="8096845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Findings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137791"/>
            <a:ext cx="4004593" cy="11313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57115" y="1223665"/>
            <a:ext cx="13744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2388" y="1595884"/>
            <a:ext cx="3746971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Spending is Uniform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2388" y="1816894"/>
            <a:ext cx="3746971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Avg. basket ($57–$61) and satisfaction (3.7–3.8) barely move across age, gender, subscription, or payment method.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5830" y="1137791"/>
            <a:ext cx="4004593" cy="11313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49368" y="1223665"/>
            <a:ext cx="13744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44641" y="1595884"/>
            <a:ext cx="3746971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Category Concentration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744641" y="1816894"/>
            <a:ext cx="3746971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Clothing (44.7%) and Accessories (31.8%) generate 76.5% of all revenue.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356768"/>
            <a:ext cx="4004593" cy="11313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57115" y="2442642"/>
            <a:ext cx="13744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52388" y="2814861"/>
            <a:ext cx="3746971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Loyalty Runs Deep but Flat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52388" y="3035871"/>
            <a:ext cx="3746971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39.7% have 30+ prior purchases, but basket size is no higher than average — loyalty shows as frequency, not bigger baskets.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5830" y="2356768"/>
            <a:ext cx="4004593" cy="11313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49368" y="2442642"/>
            <a:ext cx="13744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4744641" y="2814861"/>
            <a:ext cx="3746971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Soft Loyalty Lift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744641" y="3035871"/>
            <a:ext cx="3746971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Subscribers and discount users show modestly higher purchase history, but not larger baskets.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3575745"/>
            <a:ext cx="4004593" cy="11313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457115" y="3661618"/>
            <a:ext cx="13744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52388" y="4033837"/>
            <a:ext cx="3746971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Fulfillment Affects Satisfaction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652388" y="4254847"/>
            <a:ext cx="3746971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 &amp; 2-Day Shipping rate highest; Store Pickup is lowest at 3.71.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5830" y="3575745"/>
            <a:ext cx="4004593" cy="113131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49368" y="3661618"/>
            <a:ext cx="137443" cy="1717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4744641" y="4033837"/>
            <a:ext cx="3746971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Mild Seasonality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744641" y="4254847"/>
            <a:ext cx="3746971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~7% swing between Fall (strongest) and Summer (weakest) — enough to plan around.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21184"/>
            <a:ext cx="729779" cy="269453"/>
          </a:xfrm>
          <a:prstGeom prst="roundRect">
            <a:avLst>
              <a:gd name="adj" fmla="val 6455"/>
            </a:avLst>
          </a:prstGeom>
          <a:solidFill>
            <a:srgbClr val="054842"/>
          </a:solidFill>
          <a:ln/>
        </p:spPr>
      </p:sp>
      <p:sp>
        <p:nvSpPr>
          <p:cNvPr id="3" name="Text 1"/>
          <p:cNvSpPr/>
          <p:nvPr/>
        </p:nvSpPr>
        <p:spPr>
          <a:xfrm>
            <a:off x="610493" y="464641"/>
            <a:ext cx="1013147" cy="18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SECTION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746745"/>
            <a:ext cx="8096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Recommendations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383581"/>
            <a:ext cx="1918915" cy="2154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8462" y="1528465"/>
            <a:ext cx="1629147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Protect Core Categories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8462" y="2038796"/>
            <a:ext cx="1629147" cy="1141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Prioritize Clothing &amp; Accessories in merchandising and campaign spend — they carry 76.5% of revenue.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2838" y="1383581"/>
            <a:ext cx="1918990" cy="2154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27722" y="1528465"/>
            <a:ext cx="1629221" cy="63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Shift to Behavioral Targeting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27722" y="2251844"/>
            <a:ext cx="1629221" cy="1141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Replace broad demographic offers with targeting based on purchase frequency and prior-purchase count.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172" y="1383581"/>
            <a:ext cx="1918915" cy="21546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87057" y="1528465"/>
            <a:ext cx="1629147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Convert Non-Subscribers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787057" y="2038796"/>
            <a:ext cx="1629147" cy="1141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73% aren't subscribed — a structured push to match subscriber engagement would grow repeat frequency.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01433" y="1383581"/>
            <a:ext cx="1918990" cy="21546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46317" y="1528465"/>
            <a:ext cx="1629221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Audit Discount ROI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846317" y="2038796"/>
            <a:ext cx="1629221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Test whether promos drive incremental sales or subsidize purchases that would happen anyway.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3678585"/>
            <a:ext cx="3978250" cy="104365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8462" y="3823469"/>
            <a:ext cx="3688482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Invest in Fulfillment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68462" y="4120753"/>
            <a:ext cx="3688482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Promote Standard &amp; 2-Day Shipping; investigate Store Pickup satisfaction gap.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2172" y="3678585"/>
            <a:ext cx="3978250" cy="104365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787057" y="3823469"/>
            <a:ext cx="3688482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Build a Retention Track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787057" y="4120753"/>
            <a:ext cx="3688482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1,549 customers with 30+ purchases deserve loyalty perks, early access, and win-back campaigns.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2026-07-08T12:01:03Z</dcterms:created>
  <dcterms:modified xsi:type="dcterms:W3CDTF">2026-07-08T12:01:03Z</dcterms:modified>
</cp:coreProperties>
</file>